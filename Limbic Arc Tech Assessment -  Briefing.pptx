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4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450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468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AA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150823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dirty="0">
                <a:solidFill>
                  <a:srgbClr val="FFFFFF"/>
                </a:solidFill>
                <a:latin typeface="Segoe UI"/>
              </a:rPr>
              <a:t>Limbic Arc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dirty="0">
                <a:solidFill>
                  <a:srgbClr val="CFD9E6"/>
                </a:solidFill>
                <a:latin typeface="Segoe UI"/>
              </a:rPr>
              <a:t>Platform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5623560"/>
            <a:ext cx="100584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AABBD"/>
                </a:solidFill>
                <a:latin typeface="Segoe UI"/>
              </a:rPr>
              <a:t>Companion to the detailed Technical Assessment (v0.4)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100" b="1" dirty="0">
                <a:solidFill>
                  <a:srgbClr val="1F3A5F"/>
                </a:solidFill>
                <a:latin typeface="Segoe UI"/>
              </a:rPr>
              <a:t>The bottom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554480" cy="64008"/>
          </a:xfrm>
          <a:prstGeom prst="rect">
            <a:avLst/>
          </a:prstGeom>
          <a:solidFill>
            <a:srgbClr val="1AA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9728" cy="13258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424160" cy="1325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202B"/>
                </a:solidFill>
                <a:latin typeface="Segoe UI"/>
              </a:rPr>
              <a:t>Two good platforms — neither is the problem.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5C6B7A"/>
                </a:solidFill>
                <a:latin typeface="Segoe UI"/>
              </a:rPr>
              <a:t>Exigo runs your distributor network, ranks and commissions. Fluid is your modern online store. Keep both.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64408"/>
            <a:ext cx="109728" cy="13258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413297"/>
            <a:ext cx="10424160" cy="102810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dirty="0">
                <a:solidFill>
                  <a:srgbClr val="16202B"/>
                </a:solidFill>
                <a:latin typeface="Segoe UI"/>
              </a:rPr>
              <a:t>The problem is the gap between them.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dirty="0">
                <a:solidFill>
                  <a:srgbClr val="5C6B7A"/>
                </a:solidFill>
                <a:latin typeface="Segoe UI"/>
              </a:rPr>
              <a:t>The seam between the two systems, the aging software your websites are built on, and having no </a:t>
            </a:r>
            <a:r>
              <a:rPr lang="en-US" sz="1600" b="0" dirty="0">
                <a:solidFill>
                  <a:srgbClr val="5C6B7A"/>
                </a:solidFill>
                <a:latin typeface="Segoe UI"/>
              </a:rPr>
              <a:t>tech</a:t>
            </a:r>
            <a:r>
              <a:rPr sz="1600" b="0" dirty="0">
                <a:solidFill>
                  <a:srgbClr val="5C6B7A"/>
                </a:solidFill>
                <a:latin typeface="Segoe UI"/>
              </a:rPr>
              <a:t> team to change any of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837176"/>
            <a:ext cx="109728" cy="1325880"/>
          </a:xfrm>
          <a:prstGeom prst="rect">
            <a:avLst/>
          </a:prstGeom>
          <a:solidFill>
            <a:srgbClr val="1AA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837176"/>
            <a:ext cx="10424160" cy="1325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6202B"/>
                </a:solidFill>
                <a:latin typeface="Segoe UI"/>
              </a:rPr>
              <a:t>Recommendation: modernize gradually and safely.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5C6B7A"/>
                </a:solidFill>
                <a:latin typeface="Segoe UI"/>
              </a:rPr>
              <a:t>One piece at a time. The first step is small, low-risk, and starts paying off in weeks — but it needs a team in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100" b="1">
                <a:solidFill>
                  <a:srgbClr val="1F3A5F"/>
                </a:solidFill>
                <a:latin typeface="Segoe UI"/>
              </a:rPr>
              <a:t>What we looked 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554480" cy="64008"/>
          </a:xfrm>
          <a:prstGeom prst="rect">
            <a:avLst/>
          </a:prstGeom>
          <a:solidFill>
            <a:srgbClr val="1AA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206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dirty="0">
                <a:solidFill>
                  <a:srgbClr val="5C6B7A"/>
                </a:solidFill>
                <a:latin typeface="Segoe UI"/>
              </a:rPr>
              <a:t>We assessed the surfaces your people actually touch — plus the plumbing between your two platforms: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 dirty="0">
                <a:solidFill>
                  <a:srgbClr val="1AA192"/>
                </a:solidFill>
                <a:latin typeface="Segoe UI"/>
              </a:rPr>
              <a:t>•  </a:t>
            </a:r>
            <a:r>
              <a:rPr sz="1900" b="1" dirty="0">
                <a:solidFill>
                  <a:srgbClr val="16202B"/>
                </a:solidFill>
                <a:latin typeface="Segoe UI"/>
              </a:rPr>
              <a:t>Your customer-facing site, </a:t>
            </a:r>
            <a:r>
              <a:rPr sz="1900" b="0" dirty="0">
                <a:solidFill>
                  <a:srgbClr val="16202B"/>
                </a:solidFill>
                <a:latin typeface="Segoe UI"/>
              </a:rPr>
              <a:t>customer account area, and distributor (affiliate) back office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 dirty="0">
                <a:solidFill>
                  <a:srgbClr val="1AA192"/>
                </a:solidFill>
                <a:latin typeface="Segoe UI"/>
              </a:rPr>
              <a:t>•  </a:t>
            </a:r>
            <a:r>
              <a:rPr sz="1900" b="1" dirty="0">
                <a:solidFill>
                  <a:srgbClr val="16202B"/>
                </a:solidFill>
                <a:latin typeface="Segoe UI"/>
              </a:rPr>
              <a:t>The connection </a:t>
            </a:r>
            <a:r>
              <a:rPr sz="1900" b="0" dirty="0">
                <a:solidFill>
                  <a:srgbClr val="16202B"/>
                </a:solidFill>
                <a:latin typeface="Segoe UI"/>
              </a:rPr>
              <a:t>between </a:t>
            </a:r>
            <a:r>
              <a:rPr sz="1900" b="0" dirty="0" err="1">
                <a:solidFill>
                  <a:srgbClr val="16202B"/>
                </a:solidFill>
                <a:latin typeface="Segoe UI"/>
              </a:rPr>
              <a:t>Exigo</a:t>
            </a:r>
            <a:r>
              <a:rPr sz="1900" b="0" dirty="0">
                <a:solidFill>
                  <a:srgbClr val="16202B"/>
                </a:solidFill>
                <a:latin typeface="Segoe UI"/>
              </a:rPr>
              <a:t> and Fluid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 dirty="0">
                <a:solidFill>
                  <a:srgbClr val="1AA192"/>
                </a:solidFill>
                <a:latin typeface="Segoe UI"/>
              </a:rPr>
              <a:t>•  </a:t>
            </a:r>
            <a:r>
              <a:rPr sz="1900" b="1" dirty="0">
                <a:solidFill>
                  <a:srgbClr val="16202B"/>
                </a:solidFill>
                <a:latin typeface="Segoe UI"/>
              </a:rPr>
              <a:t>The concerns leadership cares about: </a:t>
            </a:r>
            <a:r>
              <a:rPr sz="1900" b="0" dirty="0">
                <a:solidFill>
                  <a:srgbClr val="16202B"/>
                </a:solidFill>
                <a:latin typeface="Segoe UI"/>
              </a:rPr>
              <a:t>billing reliability, security, customer experience, speed of change, and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349240"/>
            <a:ext cx="10789920" cy="8229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1F3A5F"/>
                </a:solidFill>
                <a:latin typeface="Segoe UI"/>
              </a:rPr>
              <a:t>Out of scope:  </a:t>
            </a:r>
            <a:r>
              <a:rPr sz="1550" b="0">
                <a:solidFill>
                  <a:srgbClr val="5C6B7A"/>
                </a:solidFill>
                <a:latin typeface="Segoe UI"/>
              </a:rPr>
              <a:t>your core Web App — except that customers shouldn't have to </a:t>
            </a:r>
            <a:r>
              <a:rPr sz="1550" b="1">
                <a:solidFill>
                  <a:srgbClr val="16202B"/>
                </a:solidFill>
                <a:latin typeface="Segoe UI"/>
              </a:rPr>
              <a:t>log in repeatedly</a:t>
            </a:r>
            <a:r>
              <a:rPr sz="1550" b="0">
                <a:solidFill>
                  <a:srgbClr val="5C6B7A"/>
                </a:solidFill>
                <a:latin typeface="Segoe UI"/>
              </a:rPr>
              <a:t> to reach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9440" y="466344"/>
            <a:ext cx="1064768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100" b="1">
                <a:solidFill>
                  <a:srgbClr val="1F3A5F"/>
                </a:solidFill>
                <a:latin typeface="Segoe UI"/>
              </a:rPr>
              <a:t>The five things that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554480" cy="64008"/>
          </a:xfrm>
          <a:prstGeom prst="rect">
            <a:avLst/>
          </a:prstGeom>
          <a:solidFill>
            <a:srgbClr val="1AA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871033"/>
              </p:ext>
            </p:extLst>
          </p:nvPr>
        </p:nvGraphicFramePr>
        <p:xfrm>
          <a:off x="640080" y="1554480"/>
          <a:ext cx="10908792" cy="4617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101600" marR="101600" marT="63500" marB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What's happening</a:t>
                      </a:r>
                    </a:p>
                  </a:txBody>
                  <a:tcPr marL="101600" marR="101600" marT="63500" marB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Why it matters to the business</a:t>
                      </a:r>
                    </a:p>
                  </a:txBody>
                  <a:tcPr marL="101600" marR="101600" marT="63500" marB="635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D9534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02B"/>
                          </a:solidFill>
                          <a:latin typeface="Segoe UI"/>
                        </a:rPr>
                        <a:t>Payment &amp; subscription data is split between Exigo and Fluid; no single “card on file.”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5C6B7A"/>
                          </a:solidFill>
                          <a:latin typeface="Segoe UI"/>
                        </a:rPr>
                        <a:t>Direct risk to revenue &amp; trust — fragile subscriptions, billing inconsistencies, extra compliance cost.  #1 to fix.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3A5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1600" marR="101600" marT="63500" marB="635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02B"/>
                          </a:solidFill>
                          <a:latin typeface="Segoe UI"/>
                        </a:rPr>
                        <a:t>You depend on your vendor to change anything (old, tightly-wound website software).</a:t>
                      </a:r>
                    </a:p>
                  </a:txBody>
                  <a:tcPr marL="101600" marR="101600" marT="63500" marB="635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5C6B7A"/>
                          </a:solidFill>
                          <a:latin typeface="Segoe UI"/>
                        </a:rPr>
                        <a:t>You don't control your own speed or cost. Your roadmap </a:t>
                      </a:r>
                      <a:r>
                        <a:rPr lang="en-US" sz="1250" b="0" dirty="0">
                          <a:solidFill>
                            <a:srgbClr val="5C6B7A"/>
                          </a:solidFill>
                          <a:latin typeface="Segoe UI"/>
                        </a:rPr>
                        <a:t>may not run on your own</a:t>
                      </a:r>
                      <a:r>
                        <a:rPr sz="1250" b="0" dirty="0">
                          <a:solidFill>
                            <a:srgbClr val="5C6B7A"/>
                          </a:solidFill>
                          <a:latin typeface="Segoe UI"/>
                        </a:rPr>
                        <a:t> calendar.</a:t>
                      </a:r>
                    </a:p>
                  </a:txBody>
                  <a:tcPr marL="101600" marR="101600" marT="63500" marB="63500" anchor="ctr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3A5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6202B"/>
                          </a:solidFill>
                          <a:latin typeface="Segoe UI"/>
                        </a:rPr>
                        <a:t>Three different website experiences and repeated logins.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5C6B7A"/>
                          </a:solidFill>
                          <a:latin typeface="Segoe UI"/>
                        </a:rPr>
                        <a:t>Brand &amp; trust erosion, lower conversion, more support tickets.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3A5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1600" marR="101600" marT="63500" marB="635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Segoe UI"/>
                        </a:rPr>
                        <a:t>N</a:t>
                      </a:r>
                      <a:r>
                        <a:rPr sz="1250" b="1" dirty="0">
                          <a:solidFill>
                            <a:srgbClr val="16202B"/>
                          </a:solidFill>
                          <a:latin typeface="Segoe UI"/>
                        </a:rPr>
                        <a:t>o proper access control, no single sign-on</a:t>
                      </a: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Segoe UI"/>
                        </a:rPr>
                        <a:t> or observability</a:t>
                      </a:r>
                      <a:endParaRPr sz="1250" b="1" dirty="0">
                        <a:solidFill>
                          <a:srgbClr val="16202B"/>
                        </a:solidFill>
                        <a:latin typeface="Segoe UI"/>
                      </a:endParaRPr>
                    </a:p>
                  </a:txBody>
                  <a:tcPr marL="101600" marR="101600" marT="63500" marB="635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5C6B7A"/>
                          </a:solidFill>
                          <a:latin typeface="Segoe UI"/>
                        </a:rPr>
                        <a:t>Security &amp; oversight gaps.</a:t>
                      </a:r>
                      <a:r>
                        <a:rPr lang="en-US" sz="1250" b="0" dirty="0">
                          <a:solidFill>
                            <a:srgbClr val="5C6B7A"/>
                          </a:solidFill>
                          <a:latin typeface="Segoe UI"/>
                        </a:rPr>
                        <a:t> Issue triage becomes difficult</a:t>
                      </a:r>
                      <a:endParaRPr sz="1250" b="0" dirty="0">
                        <a:solidFill>
                          <a:srgbClr val="5C6B7A"/>
                        </a:solidFill>
                        <a:latin typeface="Segoe UI"/>
                      </a:endParaRPr>
                    </a:p>
                  </a:txBody>
                  <a:tcPr marL="101600" marR="101600" marT="63500" marB="63500" anchor="ctr"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E7D5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16202B"/>
                          </a:solidFill>
                          <a:latin typeface="Segoe UI"/>
                        </a:rPr>
                        <a:t>No </a:t>
                      </a: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Segoe UI"/>
                        </a:rPr>
                        <a:t>t</a:t>
                      </a:r>
                      <a:r>
                        <a:rPr sz="1250" b="1" dirty="0">
                          <a:solidFill>
                            <a:srgbClr val="16202B"/>
                          </a:solidFill>
                          <a:latin typeface="Segoe UI"/>
                        </a:rPr>
                        <a:t>echnology team.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5C6B7A"/>
                          </a:solidFill>
                          <a:latin typeface="Segoe UI"/>
                        </a:rPr>
                        <a:t>The root cause of #2.</a:t>
                      </a:r>
                    </a:p>
                  </a:txBody>
                  <a:tcPr marL="101600" marR="1016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0636" y="292608"/>
            <a:ext cx="1064768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ayments-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36" y="292608"/>
            <a:ext cx="1064768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100" b="1">
                <a:solidFill>
                  <a:srgbClr val="1F3A5F"/>
                </a:solidFill>
                <a:latin typeface="Segoe UI"/>
              </a:rPr>
              <a:t>You don't control your own speed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554480" cy="6400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31415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0" dirty="0">
                <a:solidFill>
                  <a:srgbClr val="16202B"/>
                </a:solidFill>
                <a:latin typeface="Segoe UI"/>
              </a:rPr>
              <a:t>Your customer and distributor websites are built on an aging “starter-kit” that came with </a:t>
            </a:r>
            <a:r>
              <a:rPr sz="1800" b="0" dirty="0" err="1">
                <a:solidFill>
                  <a:srgbClr val="16202B"/>
                </a:solidFill>
                <a:latin typeface="Segoe UI"/>
              </a:rPr>
              <a:t>Exigo</a:t>
            </a:r>
            <a:r>
              <a:rPr sz="1800" b="0" dirty="0">
                <a:solidFill>
                  <a:srgbClr val="16202B"/>
                </a:solidFill>
                <a:latin typeface="Segoe UI"/>
              </a:rPr>
              <a:t> — meant to bootstrap onto </a:t>
            </a:r>
            <a:r>
              <a:rPr sz="1800" b="0" dirty="0" err="1">
                <a:solidFill>
                  <a:srgbClr val="16202B"/>
                </a:solidFill>
                <a:latin typeface="Segoe UI"/>
              </a:rPr>
              <a:t>Exigo's</a:t>
            </a:r>
            <a:r>
              <a:rPr sz="1800" b="0" dirty="0">
                <a:solidFill>
                  <a:srgbClr val="16202B"/>
                </a:solidFill>
                <a:latin typeface="Segoe UI"/>
              </a:rPr>
              <a:t> own flows, not to be a long-term product platform.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 dirty="0">
                <a:solidFill>
                  <a:srgbClr val="E8A33D"/>
                </a:solidFill>
                <a:latin typeface="Segoe UI"/>
              </a:rPr>
              <a:t>•  </a:t>
            </a:r>
            <a:r>
              <a:rPr sz="1700" b="1" dirty="0">
                <a:solidFill>
                  <a:srgbClr val="16202B"/>
                </a:solidFill>
                <a:latin typeface="Segoe UI"/>
              </a:rPr>
              <a:t>Old software only the vendor fully understands — </a:t>
            </a:r>
            <a:r>
              <a:rPr sz="1700" b="0" dirty="0">
                <a:solidFill>
                  <a:srgbClr val="5C6B7A"/>
                </a:solidFill>
                <a:latin typeface="Segoe UI"/>
              </a:rPr>
              <a:t>presentation, business rules and data access are all tangled together, with thin documentation.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 dirty="0">
                <a:solidFill>
                  <a:srgbClr val="E8A33D"/>
                </a:solidFill>
                <a:latin typeface="Segoe UI"/>
              </a:rPr>
              <a:t>•  </a:t>
            </a:r>
            <a:r>
              <a:rPr sz="1700" b="1" dirty="0">
                <a:solidFill>
                  <a:srgbClr val="16202B"/>
                </a:solidFill>
                <a:latin typeface="Segoe UI"/>
              </a:rPr>
              <a:t>Even small changes </a:t>
            </a:r>
            <a:r>
              <a:rPr lang="en-US" sz="1700" b="1" dirty="0">
                <a:solidFill>
                  <a:srgbClr val="16202B"/>
                </a:solidFill>
                <a:latin typeface="Segoe UI"/>
              </a:rPr>
              <a:t>can be</a:t>
            </a:r>
            <a:r>
              <a:rPr sz="1700" b="1" dirty="0">
                <a:solidFill>
                  <a:srgbClr val="16202B"/>
                </a:solidFill>
                <a:latin typeface="Segoe UI"/>
              </a:rPr>
              <a:t> slow and </a:t>
            </a:r>
            <a:r>
              <a:rPr lang="en-US" sz="1700" b="1" dirty="0">
                <a:solidFill>
                  <a:srgbClr val="16202B"/>
                </a:solidFill>
                <a:latin typeface="Segoe UI"/>
              </a:rPr>
              <a:t>get </a:t>
            </a:r>
            <a:r>
              <a:rPr sz="1700" b="1" dirty="0">
                <a:solidFill>
                  <a:srgbClr val="16202B"/>
                </a:solidFill>
                <a:latin typeface="Segoe UI"/>
              </a:rPr>
              <a:t>expensive — </a:t>
            </a:r>
            <a:r>
              <a:rPr lang="en-US" sz="1700" b="0" dirty="0">
                <a:solidFill>
                  <a:srgbClr val="5C6B7A"/>
                </a:solidFill>
                <a:latin typeface="Segoe UI"/>
              </a:rPr>
              <a:t>c</a:t>
            </a:r>
            <a:r>
              <a:rPr sz="1700" b="0" dirty="0">
                <a:solidFill>
                  <a:srgbClr val="5C6B7A"/>
                </a:solidFill>
                <a:latin typeface="Segoe UI"/>
              </a:rPr>
              <a:t>hange</a:t>
            </a:r>
            <a:r>
              <a:rPr lang="en-US" sz="1700" b="0" dirty="0">
                <a:solidFill>
                  <a:srgbClr val="5C6B7A"/>
                </a:solidFill>
                <a:latin typeface="Segoe UI"/>
              </a:rPr>
              <a:t>s may</a:t>
            </a:r>
            <a:r>
              <a:rPr sz="1700" b="0" dirty="0">
                <a:solidFill>
                  <a:srgbClr val="5C6B7A"/>
                </a:solidFill>
                <a:latin typeface="Segoe UI"/>
              </a:rPr>
              <a:t> need vendor know-how and </a:t>
            </a:r>
            <a:r>
              <a:rPr lang="en-US" sz="1700" b="0" dirty="0">
                <a:solidFill>
                  <a:srgbClr val="5C6B7A"/>
                </a:solidFill>
                <a:latin typeface="Segoe UI"/>
              </a:rPr>
              <a:t>might wait </a:t>
            </a:r>
            <a:r>
              <a:rPr sz="1700" b="0" dirty="0">
                <a:solidFill>
                  <a:srgbClr val="5C6B7A"/>
                </a:solidFill>
                <a:latin typeface="Segoe UI"/>
              </a:rPr>
              <a:t>in the vendor's queue.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 dirty="0">
                <a:solidFill>
                  <a:srgbClr val="E8A33D"/>
                </a:solidFill>
                <a:latin typeface="Segoe UI"/>
              </a:rPr>
              <a:t>•  </a:t>
            </a:r>
            <a:r>
              <a:rPr sz="1700" b="1" dirty="0">
                <a:solidFill>
                  <a:srgbClr val="16202B"/>
                </a:solidFill>
                <a:latin typeface="Segoe UI"/>
              </a:rPr>
              <a:t>You don't set your own timeline or cost — </a:t>
            </a:r>
            <a:r>
              <a:rPr sz="1700" b="0" dirty="0">
                <a:solidFill>
                  <a:srgbClr val="5C6B7A"/>
                </a:solidFill>
                <a:latin typeface="Segoe UI"/>
              </a:rPr>
              <a:t>your roadmap </a:t>
            </a:r>
            <a:r>
              <a:rPr lang="en-US" sz="1700" b="0" dirty="0">
                <a:solidFill>
                  <a:srgbClr val="5C6B7A"/>
                </a:solidFill>
                <a:latin typeface="Segoe UI"/>
              </a:rPr>
              <a:t>may have a hard dependency</a:t>
            </a:r>
            <a:r>
              <a:rPr sz="1700" b="0" dirty="0">
                <a:solidFill>
                  <a:srgbClr val="5C6B7A"/>
                </a:solidFill>
                <a:latin typeface="Segoe UI"/>
              </a:rPr>
              <a:t> on the vendor's priorities.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486400"/>
            <a:ext cx="10789920" cy="685800"/>
          </a:xfrm>
          <a:prstGeom prst="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9A6B15"/>
                </a:solidFill>
                <a:latin typeface="Segoe UI"/>
              </a:rPr>
              <a:t>This is why you feel stuck “firefighting.”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hree-experie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38" y="292608"/>
            <a:ext cx="10087275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170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100" b="1" dirty="0">
                <a:solidFill>
                  <a:srgbClr val="1F3A5F"/>
                </a:solidFill>
                <a:latin typeface="Segoe UI"/>
              </a:rPr>
              <a:t>No </a:t>
            </a:r>
            <a:r>
              <a:rPr sz="3100" b="1" dirty="0">
                <a:solidFill>
                  <a:srgbClr val="1F3A5F"/>
                </a:solidFill>
                <a:latin typeface="Segoe UI"/>
              </a:rPr>
              <a:t>technology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554480" cy="6400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2743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6202B"/>
                </a:solidFill>
                <a:latin typeface="Segoe UI"/>
              </a:rPr>
              <a:t>You work through capable </a:t>
            </a:r>
            <a:r>
              <a:rPr sz="2200" b="1">
                <a:solidFill>
                  <a:srgbClr val="16202B"/>
                </a:solidFill>
                <a:latin typeface="Segoe UI"/>
              </a:rPr>
              <a:t>vendors</a:t>
            </a:r>
            <a:r>
              <a:rPr sz="2200" b="0">
                <a:solidFill>
                  <a:srgbClr val="16202B"/>
                </a:solidFill>
                <a:latin typeface="Segoe UI"/>
              </a:rPr>
              <a:t>, but have </a:t>
            </a:r>
            <a:r>
              <a:rPr sz="2200" b="1">
                <a:solidFill>
                  <a:srgbClr val="D9534F"/>
                </a:solidFill>
                <a:latin typeface="Segoe UI"/>
              </a:rPr>
              <a:t>no technical counterpart of your own</a:t>
            </a:r>
            <a:r>
              <a:rPr sz="2200" b="0">
                <a:solidFill>
                  <a:srgbClr val="16202B"/>
                </a:solidFill>
                <a:latin typeface="Segoe UI"/>
              </a:rPr>
              <a:t>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D9534F"/>
                </a:solidFill>
                <a:latin typeface="Segoe UI"/>
              </a:rPr>
              <a:t>•  </a:t>
            </a:r>
            <a:r>
              <a:rPr sz="1800" b="1">
                <a:solidFill>
                  <a:srgbClr val="16202B"/>
                </a:solidFill>
                <a:latin typeface="Segoe UI"/>
              </a:rPr>
              <a:t>No one to own the code </a:t>
            </a:r>
            <a:r>
              <a:rPr sz="1800" b="0">
                <a:solidFill>
                  <a:srgbClr val="5C6B7A"/>
                </a:solidFill>
                <a:latin typeface="Segoe UI"/>
              </a:rPr>
              <a:t>or direct the vendors — so change waits in their queue and you stay in reactive mode.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D9534F"/>
                </a:solidFill>
                <a:latin typeface="Segoe UI"/>
              </a:rPr>
              <a:t>•  </a:t>
            </a:r>
            <a:r>
              <a:rPr sz="1800" b="1">
                <a:solidFill>
                  <a:srgbClr val="16202B"/>
                </a:solidFill>
                <a:latin typeface="Segoe UI"/>
              </a:rPr>
              <a:t>This is the upstream cause </a:t>
            </a:r>
            <a:r>
              <a:rPr sz="1800" b="0">
                <a:solidFill>
                  <a:srgbClr val="5C6B7A"/>
                </a:solidFill>
                <a:latin typeface="Segoe UI"/>
              </a:rPr>
              <a:t>of most of the other issues. With no one on your side, change is outsourced by default.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D9534F"/>
                </a:solidFill>
                <a:latin typeface="Segoe UI"/>
              </a:rPr>
              <a:t>•  </a:t>
            </a:r>
            <a:r>
              <a:rPr sz="1800" b="1">
                <a:solidFill>
                  <a:srgbClr val="16202B"/>
                </a:solidFill>
                <a:latin typeface="Segoe UI"/>
              </a:rPr>
              <a:t>Architecture alone won't fix it — </a:t>
            </a:r>
            <a:r>
              <a:rPr sz="1800" b="0">
                <a:solidFill>
                  <a:srgbClr val="5C6B7A"/>
                </a:solidFill>
                <a:latin typeface="Segoe UI"/>
              </a:rPr>
              <a:t>better systems help, but can't substitute for having someone on your side to drive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532120"/>
            <a:ext cx="10789920" cy="685800"/>
          </a:xfrm>
          <a:prstGeom prst="rect">
            <a:avLst/>
          </a:prstGeom>
          <a:solidFill>
            <a:srgbClr val="FB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D9534F"/>
                </a:solidFill>
                <a:latin typeface="Segoe UI"/>
              </a:rPr>
              <a:t>This is why the staffing decision — coming up — gates everything.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arget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36" y="292608"/>
            <a:ext cx="1064768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ource-of-tr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36" y="292608"/>
            <a:ext cx="1064768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36" y="292608"/>
            <a:ext cx="1064768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100" b="1">
                <a:solidFill>
                  <a:srgbClr val="1F3A5F"/>
                </a:solidFill>
                <a:latin typeface="Segoe UI"/>
              </a:rPr>
              <a:t>Immediate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98448"/>
            <a:ext cx="1554480" cy="64008"/>
          </a:xfrm>
          <a:prstGeom prst="rect">
            <a:avLst/>
          </a:prstGeom>
          <a:solidFill>
            <a:srgbClr val="1AA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658368" cy="13898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658368" cy="13898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481328"/>
            <a:ext cx="10222992" cy="1389888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1719832"/>
            <a:ext cx="9875520" cy="91287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dirty="0">
                <a:solidFill>
                  <a:srgbClr val="1F3A5F"/>
                </a:solidFill>
                <a:latin typeface="Segoe UI"/>
              </a:rPr>
              <a:t>Decide how to staff it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5C6B7A"/>
                </a:solidFill>
                <a:latin typeface="Segoe UI"/>
              </a:rPr>
              <a:t>Choose from three options: hire your own team (</a:t>
            </a:r>
            <a:r>
              <a:rPr lang="en-US" sz="1350" b="0" dirty="0">
                <a:solidFill>
                  <a:srgbClr val="5C6B7A"/>
                </a:solidFill>
                <a:latin typeface="Segoe UI"/>
              </a:rPr>
              <a:t>Longer ramp up time</a:t>
            </a:r>
            <a:r>
              <a:rPr sz="1350" b="0" dirty="0">
                <a:solidFill>
                  <a:srgbClr val="5C6B7A"/>
                </a:solidFill>
                <a:latin typeface="Segoe UI"/>
              </a:rPr>
              <a:t>), bring in a partner (fastest start), or start with a partner and grow your own team over time (hybrid). The rest of the plan waits on this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99232"/>
            <a:ext cx="658368" cy="1389888"/>
          </a:xfrm>
          <a:prstGeom prst="rect">
            <a:avLst/>
          </a:prstGeom>
          <a:solidFill>
            <a:srgbClr val="1AA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99232"/>
            <a:ext cx="658368" cy="13898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8448" y="2999232"/>
            <a:ext cx="10222992" cy="1389888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2984270"/>
            <a:ext cx="9875520" cy="14198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dirty="0">
                <a:solidFill>
                  <a:srgbClr val="1F3A5F"/>
                </a:solidFill>
                <a:latin typeface="Segoe UI"/>
              </a:rPr>
              <a:t>Kick off a small, fixed-scope first step</a:t>
            </a:r>
            <a:r>
              <a:rPr lang="en-US" sz="1900" b="1" dirty="0">
                <a:solidFill>
                  <a:srgbClr val="1F3A5F"/>
                </a:solidFill>
                <a:latin typeface="Segoe UI"/>
              </a:rPr>
              <a:t> (2 weeks)</a:t>
            </a:r>
            <a:endParaRPr sz="1900" b="1" dirty="0">
              <a:solidFill>
                <a:srgbClr val="1F3A5F"/>
              </a:solidFill>
              <a:latin typeface="Segoe UI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dirty="0">
                <a:solidFill>
                  <a:srgbClr val="5C6B7A"/>
                </a:solidFill>
                <a:latin typeface="Segoe UI"/>
              </a:rPr>
              <a:t>Deliverables: (a) Document the current </a:t>
            </a:r>
            <a:r>
              <a:rPr sz="1350" b="0" dirty="0" err="1">
                <a:solidFill>
                  <a:srgbClr val="5C6B7A"/>
                </a:solidFill>
                <a:latin typeface="Segoe UI"/>
              </a:rPr>
              <a:t>Exigo</a:t>
            </a:r>
            <a:r>
              <a:rPr sz="1350" b="0" dirty="0">
                <a:solidFill>
                  <a:srgbClr val="5C6B7A"/>
                </a:solidFill>
                <a:latin typeface="Segoe UI"/>
              </a:rPr>
              <a:t>–Fluid integration and data flows </a:t>
            </a:r>
            <a:r>
              <a:rPr lang="en-US" sz="1350" b="0" dirty="0">
                <a:solidFill>
                  <a:srgbClr val="5C6B7A"/>
                </a:solidFill>
                <a:latin typeface="Segoe UI"/>
              </a:rPr>
              <a:t>-</a:t>
            </a:r>
            <a:r>
              <a:rPr sz="1350" b="0" dirty="0">
                <a:solidFill>
                  <a:srgbClr val="5C6B7A"/>
                </a:solidFill>
                <a:latin typeface="Segoe UI"/>
              </a:rPr>
              <a:t> a map the team can actually work from. (b) </a:t>
            </a:r>
            <a:r>
              <a:rPr lang="en-US" sz="1350" b="0" dirty="0">
                <a:solidFill>
                  <a:srgbClr val="5C6B7A"/>
                </a:solidFill>
                <a:latin typeface="Segoe UI"/>
              </a:rPr>
              <a:t>A</a:t>
            </a:r>
            <a:r>
              <a:rPr sz="1350" b="0" dirty="0">
                <a:solidFill>
                  <a:srgbClr val="5C6B7A"/>
                </a:solidFill>
                <a:latin typeface="Segoe UI"/>
              </a:rPr>
              <a:t>udit on all subscription and payment writes. (c) Stop any new card tokenization happening on the </a:t>
            </a:r>
            <a:r>
              <a:rPr sz="1350" b="0" dirty="0" err="1">
                <a:solidFill>
                  <a:srgbClr val="5C6B7A"/>
                </a:solidFill>
                <a:latin typeface="Segoe UI"/>
              </a:rPr>
              <a:t>Exigo</a:t>
            </a:r>
            <a:r>
              <a:rPr sz="1350" b="0" dirty="0">
                <a:solidFill>
                  <a:srgbClr val="5C6B7A"/>
                </a:solidFill>
                <a:latin typeface="Segoe UI"/>
              </a:rPr>
              <a:t> side while the full fix is scoped.</a:t>
            </a:r>
            <a:r>
              <a:rPr lang="en-US" sz="1350" b="0" dirty="0">
                <a:solidFill>
                  <a:srgbClr val="5C6B7A"/>
                </a:solidFill>
                <a:latin typeface="Segoe UI"/>
              </a:rPr>
              <a:t> </a:t>
            </a:r>
            <a:r>
              <a:rPr sz="1350" b="0" dirty="0">
                <a:solidFill>
                  <a:srgbClr val="5C6B7A"/>
                </a:solidFill>
                <a:latin typeface="Segoe UI"/>
              </a:rPr>
              <a:t> (d) </a:t>
            </a:r>
            <a:r>
              <a:rPr lang="en-US" sz="1350" b="0" dirty="0">
                <a:solidFill>
                  <a:srgbClr val="5C6B7A"/>
                </a:solidFill>
                <a:latin typeface="Segoe UI"/>
              </a:rPr>
              <a:t>Plug the hol</a:t>
            </a:r>
            <a:r>
              <a:rPr lang="en-US" sz="1350" dirty="0">
                <a:solidFill>
                  <a:srgbClr val="5C6B7A"/>
                </a:solidFill>
                <a:latin typeface="Segoe UI"/>
              </a:rPr>
              <a:t>e by linking to fluid for any new subscriptions happening in the </a:t>
            </a:r>
            <a:r>
              <a:rPr lang="en-US" sz="1350" dirty="0" err="1">
                <a:solidFill>
                  <a:srgbClr val="5C6B7A"/>
                </a:solidFill>
                <a:latin typeface="Segoe UI"/>
              </a:rPr>
              <a:t>backoffice</a:t>
            </a:r>
            <a:r>
              <a:rPr lang="en-US" sz="1350" dirty="0">
                <a:solidFill>
                  <a:srgbClr val="5C6B7A"/>
                </a:solidFill>
                <a:latin typeface="Segoe UI"/>
              </a:rPr>
              <a:t>. (e) </a:t>
            </a:r>
            <a:r>
              <a:rPr sz="1350" b="0" dirty="0">
                <a:solidFill>
                  <a:srgbClr val="5C6B7A"/>
                </a:solidFill>
                <a:latin typeface="Segoe UI"/>
              </a:rPr>
              <a:t>Produce a properly sized plan and timeline for the phases that follow.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17136"/>
            <a:ext cx="658368" cy="13898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58368" cy="138988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8448" y="4517136"/>
            <a:ext cx="10222992" cy="1389888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8760" y="4502174"/>
            <a:ext cx="9875520" cy="14198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dirty="0">
                <a:solidFill>
                  <a:srgbClr val="1F3A5F"/>
                </a:solidFill>
                <a:latin typeface="Segoe UI"/>
              </a:rPr>
              <a:t>Confirm a few specifics with your teams &amp; vendors</a:t>
            </a:r>
            <a:r>
              <a:rPr lang="en-US" sz="1900" b="1" dirty="0">
                <a:solidFill>
                  <a:srgbClr val="1F3A5F"/>
                </a:solidFill>
                <a:latin typeface="Segoe UI"/>
              </a:rPr>
              <a:t> (3-4 weeks)</a:t>
            </a:r>
            <a:endParaRPr sz="1900" b="1" dirty="0">
              <a:solidFill>
                <a:srgbClr val="1F3A5F"/>
              </a:solidFill>
              <a:latin typeface="Segoe UI"/>
            </a:endParaRPr>
          </a:p>
          <a:p>
            <a:pPr>
              <a:lnSpc>
                <a:spcPct val="122000"/>
              </a:lnSpc>
            </a:pPr>
            <a:r>
              <a:rPr lang="en-US" sz="1350" dirty="0">
                <a:solidFill>
                  <a:srgbClr val="5C6B7A"/>
                </a:solidFill>
                <a:latin typeface="Segoe UI"/>
              </a:rPr>
              <a:t>Deliverables: (a) Build the foundation - cloud setup, automated deployments, guard rails. (b) Extract customer profiles and subscriptions into services you own. (c) Replace the current Family &amp; Friends workaround with a purpose-built service that makes perks straightforward to manage. (d) Surface everything through the existing back office so distributors see one consistent experience without disruption.</a:t>
            </a:r>
            <a:endParaRPr sz="1350" b="0" dirty="0">
              <a:solidFill>
                <a:srgbClr val="5C6B7A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55664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>
                <a:solidFill>
                  <a:srgbClr val="8A97A4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AA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241280" cy="4206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right two platforms. A real business.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</a:pPr>
            <a:r>
              <a:rPr sz="2200" b="0">
                <a:solidFill>
                  <a:srgbClr val="CFD9E6"/>
                </a:solidFill>
                <a:latin typeface="Segoe UI"/>
              </a:rPr>
              <a:t>What's missing is </a:t>
            </a:r>
            <a:r>
              <a:rPr sz="2200" b="1">
                <a:solidFill>
                  <a:srgbClr val="1AA192"/>
                </a:solidFill>
                <a:latin typeface="Segoe UI"/>
              </a:rPr>
              <a:t>ownership of the layer in between</a:t>
            </a:r>
            <a:r>
              <a:rPr sz="2200" b="0">
                <a:solidFill>
                  <a:srgbClr val="CFD9E6"/>
                </a:solidFill>
                <a:latin typeface="Segoe UI"/>
              </a:rPr>
              <a:t> — and the </a:t>
            </a:r>
            <a:r>
              <a:rPr sz="2200" b="1">
                <a:solidFill>
                  <a:srgbClr val="1AA192"/>
                </a:solidFill>
                <a:latin typeface="Segoe UI"/>
              </a:rPr>
              <a:t>capability to change it.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</a:pPr>
            <a:r>
              <a:rPr sz="1800" b="0">
                <a:solidFill>
                  <a:srgbClr val="D7DFE8"/>
                </a:solidFill>
                <a:latin typeface="Segoe UI"/>
              </a:rPr>
              <a:t>The path is low-risk and incremental, the first step is small, and the payoff is substantial: lower risk, faster delivery, a better experience, and the freedom to innovate.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CDA54-8780-CCB2-6F75-BA936BBD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F19CFE-A55E-B8D2-3699-275B3AFE91B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FB9831-2274-276B-5DD9-C61864DD7956}"/>
              </a:ext>
            </a:extLst>
          </p:cNvPr>
          <p:cNvSpPr txBox="1"/>
          <p:nvPr/>
        </p:nvSpPr>
        <p:spPr>
          <a:xfrm>
            <a:off x="640080" y="6455664"/>
            <a:ext cx="82296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dirty="0">
                <a:solidFill>
                  <a:srgbClr val="8A97A4"/>
                </a:solidFill>
                <a:latin typeface="Segoe UI"/>
              </a:rPr>
              <a:t>Limbic Arc — Platform Assessment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532D7-A27C-82D1-1FB7-9C866EC0CECF}"/>
              </a:ext>
            </a:extLst>
          </p:cNvPr>
          <p:cNvSpPr txBox="1"/>
          <p:nvPr/>
        </p:nvSpPr>
        <p:spPr>
          <a:xfrm>
            <a:off x="10789920" y="6455664"/>
            <a:ext cx="914400" cy="20172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950" b="0" dirty="0">
                <a:solidFill>
                  <a:srgbClr val="8A97A4"/>
                </a:solidFill>
                <a:latin typeface="Segoe UI"/>
              </a:rPr>
              <a:t>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8CFC6-2E0B-3595-1C60-5B149610FCF4}"/>
              </a:ext>
            </a:extLst>
          </p:cNvPr>
          <p:cNvSpPr txBox="1"/>
          <p:nvPr/>
        </p:nvSpPr>
        <p:spPr>
          <a:xfrm>
            <a:off x="640080" y="457200"/>
            <a:ext cx="10972800" cy="51700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100" b="1" dirty="0">
                <a:solidFill>
                  <a:srgbClr val="1F3A5F"/>
                </a:solidFill>
                <a:latin typeface="Segoe UI"/>
              </a:rPr>
              <a:t>Questions?</a:t>
            </a:r>
            <a:endParaRPr sz="3100" b="1" dirty="0">
              <a:solidFill>
                <a:srgbClr val="1F3A5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2535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970</Words>
  <Application>Microsoft Office PowerPoint</Application>
  <PresentationFormat>Widescreen</PresentationFormat>
  <Paragraphs>89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Vinayak Mankal</cp:lastModifiedBy>
  <cp:revision>4</cp:revision>
  <dcterms:created xsi:type="dcterms:W3CDTF">2013-01-27T09:14:16Z</dcterms:created>
  <dcterms:modified xsi:type="dcterms:W3CDTF">2026-06-03T01:46:09Z</dcterms:modified>
  <cp:category/>
</cp:coreProperties>
</file>